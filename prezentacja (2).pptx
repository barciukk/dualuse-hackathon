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embeddedFontLst>
    <p:embeddedFont>
      <p:font typeface="Lexend" pitchFamily="2" charset="-18"/>
      <p:regular r:id="rId11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036"/>
    <a:srgbClr val="F87216"/>
    <a:srgbClr val="FF7917"/>
    <a:srgbClr val="F97316"/>
    <a:srgbClr val="FA7416"/>
    <a:srgbClr val="FF3C00"/>
    <a:srgbClr val="0F172A"/>
    <a:srgbClr val="0D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2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21398"/>
            <a:ext cx="15240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025" y="4521398"/>
            <a:ext cx="152400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2145952"/>
            <a:ext cx="220733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97316"/>
                </a:solidFill>
                <a:latin typeface="Lexend"/>
              </a:rPr>
              <a:t>ZESP</a:t>
            </a:r>
            <a:r>
              <a:rPr lang="pl-PL" sz="1200" b="1" dirty="0">
                <a:solidFill>
                  <a:srgbClr val="F97316"/>
                </a:solidFill>
                <a:latin typeface="Lexend"/>
              </a:rPr>
              <a:t>ÓŁ</a:t>
            </a:r>
            <a:r>
              <a:rPr sz="1200" b="1" i="0" u="none" dirty="0">
                <a:solidFill>
                  <a:srgbClr val="F97316"/>
                </a:solidFill>
                <a:latin typeface="Lexend"/>
              </a:rPr>
              <a:t> "USZATY I BANDA"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565052"/>
            <a:ext cx="5250024" cy="1723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l-PL" sz="2800" b="1" i="0" u="none" dirty="0" err="1">
                <a:solidFill>
                  <a:srgbClr val="F8FAFC"/>
                </a:solidFill>
                <a:latin typeface="Lexend"/>
              </a:rPr>
              <a:t>Dronowy</a:t>
            </a:r>
            <a:r>
              <a:rPr lang="pl-PL" sz="2800" b="1" i="0" u="none" dirty="0">
                <a:solidFill>
                  <a:srgbClr val="F8FAFC"/>
                </a:solidFill>
                <a:latin typeface="Lexend"/>
              </a:rPr>
              <a:t> system monitoringu i ostrzegania przed zagrożeniem powodziowym.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92823"/>
            <a:ext cx="1964531" cy="21907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Lexend"/>
              </a:rPr>
              <a:t>Paweł Mroczek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6025" y="4492823"/>
            <a:ext cx="2000250" cy="21907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Lexend"/>
              </a:rPr>
              <a:t>Bartosz Mytych</a:t>
            </a:r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1960C804-EB9E-FAB2-C6FD-B120349ABF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56" r="17044"/>
          <a:stretch>
            <a:fillRect/>
          </a:stretch>
        </p:blipFill>
        <p:spPr>
          <a:xfrm>
            <a:off x="6096000" y="-2174"/>
            <a:ext cx="6096000" cy="6857999"/>
          </a:xfrm>
          <a:custGeom>
            <a:avLst/>
            <a:gdLst>
              <a:gd name="csX0" fmla="*/ 0 w 6096000"/>
              <a:gd name="csY0" fmla="*/ 0 h 6857999"/>
              <a:gd name="csX1" fmla="*/ 6096000 w 6096000"/>
              <a:gd name="csY1" fmla="*/ 0 h 6857999"/>
              <a:gd name="csX2" fmla="*/ 6096000 w 6096000"/>
              <a:gd name="csY2" fmla="*/ 6857999 h 6857999"/>
              <a:gd name="csX3" fmla="*/ 0 w 6096000"/>
              <a:gd name="csY3" fmla="*/ 6857999 h 6857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096000" h="6857999">
                <a:moveTo>
                  <a:pt x="0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0">
                <a:srgbClr val="0F172A">
                  <a:lumMod val="100000"/>
                </a:srgbClr>
              </a:gs>
            </a:gsLst>
            <a:lin ang="0" scaled="0"/>
          </a:gradFill>
        </p:spPr>
      </p:pic>
      <p:sp>
        <p:nvSpPr>
          <p:cNvPr id="18" name="Prostokąt 17">
            <a:extLst>
              <a:ext uri="{FF2B5EF4-FFF2-40B4-BE49-F238E27FC236}">
                <a16:creationId xmlns:a16="http://schemas.microsoft.com/office/drawing/2014/main" id="{999EF670-322B-FDBE-50C4-C9AFD36CBCE2}"/>
              </a:ext>
            </a:extLst>
          </p:cNvPr>
          <p:cNvSpPr/>
          <p:nvPr/>
        </p:nvSpPr>
        <p:spPr>
          <a:xfrm>
            <a:off x="6096000" y="-2174"/>
            <a:ext cx="6096000" cy="6855825"/>
          </a:xfrm>
          <a:prstGeom prst="rect">
            <a:avLst/>
          </a:prstGeom>
          <a:gradFill>
            <a:gsLst>
              <a:gs pos="0">
                <a:srgbClr val="0F172A"/>
              </a:gs>
              <a:gs pos="21000">
                <a:srgbClr val="0D1E42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09600" y="609600"/>
            <a:ext cx="89607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l-PL" sz="1050" b="1" dirty="0">
                <a:solidFill>
                  <a:srgbClr val="0F172A"/>
                </a:solidFill>
                <a:latin typeface="Lexend"/>
              </a:rPr>
              <a:t>PROBLEM OPERACYJNY</a:t>
            </a:r>
            <a:endParaRPr sz="1050" b="1" i="0" u="none" dirty="0">
              <a:solidFill>
                <a:srgbClr val="0F172A"/>
              </a:solidFill>
              <a:latin typeface="Lexen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933450"/>
            <a:ext cx="65836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l-PL" sz="3600" b="1" i="0" u="none" dirty="0">
                <a:solidFill>
                  <a:srgbClr val="0F172A"/>
                </a:solidFill>
                <a:latin typeface="Lexend"/>
              </a:rPr>
              <a:t>Luka informacyjna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657350"/>
            <a:ext cx="3063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l-PL" sz="1500" b="0" i="0" u="none" dirty="0">
                <a:solidFill>
                  <a:srgbClr val="475569"/>
                </a:solidFill>
                <a:latin typeface="Lexend"/>
              </a:rPr>
              <a:t>W czasie wezbrania gmina i PSP decydują pod presją czasu, na rozproszonych danych i bez aktualnego obrazu z terenu.</a:t>
            </a:r>
            <a:endParaRPr sz="1500" b="0" i="0" u="none" dirty="0">
              <a:solidFill>
                <a:srgbClr val="475569"/>
              </a:solidFill>
              <a:latin typeface="Lexend"/>
            </a:endParaRPr>
          </a:p>
        </p:txBody>
      </p:sp>
      <p:grpSp>
        <p:nvGrpSpPr>
          <p:cNvPr id="19" name="Grupa 18">
            <a:extLst>
              <a:ext uri="{FF2B5EF4-FFF2-40B4-BE49-F238E27FC236}">
                <a16:creationId xmlns:a16="http://schemas.microsoft.com/office/drawing/2014/main" id="{2DFEDB6C-E995-2DD6-0109-45A0DC3D2E5D}"/>
              </a:ext>
            </a:extLst>
          </p:cNvPr>
          <p:cNvGrpSpPr/>
          <p:nvPr/>
        </p:nvGrpSpPr>
        <p:grpSpPr>
          <a:xfrm>
            <a:off x="3804917" y="2323714"/>
            <a:ext cx="3454449" cy="2514600"/>
            <a:chOff x="609600" y="3409950"/>
            <a:chExt cx="3454449" cy="2514600"/>
          </a:xfrm>
        </p:grpSpPr>
        <p:sp>
          <p:nvSpPr>
            <p:cNvPr id="2" name="Rounded Rectangle 1"/>
            <p:cNvSpPr/>
            <p:nvPr/>
          </p:nvSpPr>
          <p:spPr>
            <a:xfrm>
              <a:off x="609600" y="3409950"/>
              <a:ext cx="3454449" cy="2514600"/>
            </a:xfrm>
            <a:prstGeom prst="roundRect">
              <a:avLst>
                <a:gd name="adj" fmla="val 7547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3714750"/>
              <a:ext cx="342900" cy="3048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914400" y="4248150"/>
              <a:ext cx="2870233" cy="55399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pl-PL" sz="1800" b="1" i="0" u="none" dirty="0">
                  <a:solidFill>
                    <a:srgbClr val="0F172A"/>
                  </a:solidFill>
                  <a:latin typeface="Lexend"/>
                </a:rPr>
                <a:t>Słaby dostęp do danych historycznych</a:t>
              </a:r>
              <a:endParaRPr sz="1800" b="1" i="0" u="none" dirty="0">
                <a:solidFill>
                  <a:srgbClr val="0F172A"/>
                </a:solidFill>
                <a:latin typeface="Lexend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14400" y="5030748"/>
              <a:ext cx="2940099" cy="4381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50" b="0" i="0" u="none" dirty="0" err="1">
                  <a:solidFill>
                    <a:srgbClr val="475569"/>
                  </a:solidFill>
                  <a:latin typeface="Lexend"/>
                </a:rPr>
                <a:t>Trudny</a:t>
              </a:r>
              <a:r>
                <a:rPr sz="1350" b="0" i="0" u="none" dirty="0">
                  <a:solidFill>
                    <a:srgbClr val="475569"/>
                  </a:solidFill>
                  <a:latin typeface="Lexend"/>
                </a:rPr>
                <a:t> </a:t>
              </a:r>
              <a:r>
                <a:rPr sz="1350" b="0" i="0" u="none" dirty="0" err="1">
                  <a:solidFill>
                    <a:srgbClr val="475569"/>
                  </a:solidFill>
                  <a:latin typeface="Lexend"/>
                </a:rPr>
                <a:t>dostęp</a:t>
              </a:r>
              <a:r>
                <a:rPr sz="1350" b="0" i="0" u="none" dirty="0">
                  <a:solidFill>
                    <a:srgbClr val="475569"/>
                  </a:solidFill>
                  <a:latin typeface="Lexend"/>
                </a:rPr>
                <a:t> do </a:t>
              </a:r>
              <a:r>
                <a:rPr sz="1350" b="0" i="0" u="none" dirty="0" err="1">
                  <a:solidFill>
                    <a:srgbClr val="475569"/>
                  </a:solidFill>
                  <a:latin typeface="Lexend"/>
                </a:rPr>
                <a:t>archiwów</a:t>
              </a:r>
              <a:r>
                <a:rPr sz="1350" b="0" i="0" u="none" dirty="0">
                  <a:solidFill>
                    <a:srgbClr val="475569"/>
                  </a:solidFill>
                  <a:latin typeface="Lexend"/>
                </a:rPr>
                <a:t> </a:t>
              </a:r>
              <a:r>
                <a:rPr sz="1350" b="0" i="0" u="none" dirty="0" err="1">
                  <a:solidFill>
                    <a:srgbClr val="475569"/>
                  </a:solidFill>
                  <a:latin typeface="Lexend"/>
                </a:rPr>
                <a:t>powodziowych</a:t>
              </a:r>
              <a:r>
                <a:rPr sz="1350" b="0" i="0" u="none" dirty="0">
                  <a:solidFill>
                    <a:srgbClr val="475569"/>
                  </a:solidFill>
                  <a:latin typeface="Lexend"/>
                </a:rPr>
                <a:t>.</a:t>
              </a:r>
            </a:p>
          </p:txBody>
        </p:sp>
      </p:grpSp>
      <p:grpSp>
        <p:nvGrpSpPr>
          <p:cNvPr id="18" name="Grupa 17">
            <a:extLst>
              <a:ext uri="{FF2B5EF4-FFF2-40B4-BE49-F238E27FC236}">
                <a16:creationId xmlns:a16="http://schemas.microsoft.com/office/drawing/2014/main" id="{A9408728-CFF0-5E74-1FB5-EB60BCB01BFF}"/>
              </a:ext>
            </a:extLst>
          </p:cNvPr>
          <p:cNvGrpSpPr/>
          <p:nvPr/>
        </p:nvGrpSpPr>
        <p:grpSpPr>
          <a:xfrm>
            <a:off x="8338891" y="4000113"/>
            <a:ext cx="3454449" cy="2514599"/>
            <a:chOff x="4368849" y="3409949"/>
            <a:chExt cx="3454449" cy="2514599"/>
          </a:xfrm>
        </p:grpSpPr>
        <p:sp>
          <p:nvSpPr>
            <p:cNvPr id="3" name="Rounded Rectangle 2"/>
            <p:cNvSpPr/>
            <p:nvPr/>
          </p:nvSpPr>
          <p:spPr>
            <a:xfrm>
              <a:off x="4368849" y="3409949"/>
              <a:ext cx="3454449" cy="2514599"/>
            </a:xfrm>
            <a:prstGeom prst="roundRect">
              <a:avLst>
                <a:gd name="adj" fmla="val 7547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3649" y="3714750"/>
              <a:ext cx="342900" cy="304800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4673649" y="4248150"/>
              <a:ext cx="2940099" cy="55399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800" b="1" i="0" u="none" dirty="0" err="1">
                  <a:solidFill>
                    <a:srgbClr val="0F172A"/>
                  </a:solidFill>
                  <a:latin typeface="Lexend"/>
                </a:rPr>
                <a:t>Ryzykowne</a:t>
              </a:r>
              <a:r>
                <a:rPr sz="1800" b="1" i="0" u="none" dirty="0">
                  <a:solidFill>
                    <a:srgbClr val="0F172A"/>
                  </a:solidFill>
                  <a:latin typeface="Lexend"/>
                </a:rPr>
                <a:t> </a:t>
              </a:r>
              <a:r>
                <a:rPr lang="pl-PL" b="1" dirty="0">
                  <a:solidFill>
                    <a:srgbClr val="0F172A"/>
                  </a:solidFill>
                  <a:latin typeface="Lexend"/>
                </a:rPr>
                <a:t>b</a:t>
              </a:r>
              <a:r>
                <a:rPr sz="1800" b="1" i="0" u="none" dirty="0" err="1">
                  <a:solidFill>
                    <a:srgbClr val="0F172A"/>
                  </a:solidFill>
                  <a:latin typeface="Lexend"/>
                </a:rPr>
                <a:t>udowy</a:t>
              </a:r>
              <a:r>
                <a:rPr lang="pl-PL" sz="1800" b="1" i="0" u="none" dirty="0">
                  <a:solidFill>
                    <a:srgbClr val="0F172A"/>
                  </a:solidFill>
                  <a:latin typeface="Lexend"/>
                </a:rPr>
                <a:t> domów</a:t>
              </a:r>
              <a:endParaRPr sz="1800" b="1" i="0" u="none" dirty="0">
                <a:solidFill>
                  <a:srgbClr val="0F172A"/>
                </a:solidFill>
                <a:latin typeface="Lexend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73649" y="5030748"/>
              <a:ext cx="2940099" cy="6232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50" b="0" i="0" u="none" dirty="0" err="1">
                  <a:solidFill>
                    <a:srgbClr val="475569"/>
                  </a:solidFill>
                  <a:latin typeface="Lexend"/>
                </a:rPr>
                <a:t>Nieświadome</a:t>
              </a:r>
              <a:r>
                <a:rPr sz="1350" b="0" i="0" u="none" dirty="0">
                  <a:solidFill>
                    <a:srgbClr val="475569"/>
                  </a:solidFill>
                  <a:latin typeface="Lexend"/>
                </a:rPr>
                <a:t> </a:t>
              </a:r>
              <a:r>
                <a:rPr sz="1350" b="0" i="0" u="none" dirty="0" err="1">
                  <a:solidFill>
                    <a:srgbClr val="475569"/>
                  </a:solidFill>
                  <a:latin typeface="Lexend"/>
                </a:rPr>
                <a:t>inwestycje</a:t>
              </a:r>
              <a:r>
                <a:rPr lang="pl-PL" sz="1350" b="0" i="0" u="none" dirty="0">
                  <a:solidFill>
                    <a:srgbClr val="475569"/>
                  </a:solidFill>
                  <a:latin typeface="Lexend"/>
                </a:rPr>
                <a:t>, szczególnie domów rodzinnych</a:t>
              </a:r>
              <a:r>
                <a:rPr sz="1350" b="0" i="0" u="none" dirty="0">
                  <a:solidFill>
                    <a:srgbClr val="475569"/>
                  </a:solidFill>
                  <a:latin typeface="Lexend"/>
                </a:rPr>
                <a:t> </a:t>
              </a:r>
              <a:r>
                <a:rPr sz="1350" b="0" i="0" u="none" dirty="0" err="1">
                  <a:solidFill>
                    <a:srgbClr val="475569"/>
                  </a:solidFill>
                  <a:latin typeface="Lexend"/>
                </a:rPr>
                <a:t>na</a:t>
              </a:r>
              <a:r>
                <a:rPr sz="1350" b="0" i="0" u="none" dirty="0">
                  <a:solidFill>
                    <a:srgbClr val="475569"/>
                  </a:solidFill>
                  <a:latin typeface="Lexend"/>
                </a:rPr>
                <a:t> </a:t>
              </a:r>
              <a:r>
                <a:rPr sz="1350" b="0" i="0" u="none" dirty="0" err="1">
                  <a:solidFill>
                    <a:srgbClr val="475569"/>
                  </a:solidFill>
                  <a:latin typeface="Lexend"/>
                </a:rPr>
                <a:t>terenach</a:t>
              </a:r>
              <a:r>
                <a:rPr sz="1350" b="0" i="0" u="none" dirty="0">
                  <a:solidFill>
                    <a:srgbClr val="475569"/>
                  </a:solidFill>
                  <a:latin typeface="Lexend"/>
                </a:rPr>
                <a:t> </a:t>
              </a:r>
              <a:r>
                <a:rPr sz="1350" b="0" i="0" u="none" dirty="0" err="1">
                  <a:solidFill>
                    <a:srgbClr val="475569"/>
                  </a:solidFill>
                  <a:latin typeface="Lexend"/>
                </a:rPr>
                <a:t>zalewowych</a:t>
              </a:r>
              <a:r>
                <a:rPr sz="1350" b="0" i="0" u="none" dirty="0">
                  <a:solidFill>
                    <a:srgbClr val="475569"/>
                  </a:solidFill>
                  <a:latin typeface="Lexend"/>
                </a:rPr>
                <a:t>.</a:t>
              </a:r>
            </a:p>
          </p:txBody>
        </p:sp>
      </p:grpSp>
      <p:grpSp>
        <p:nvGrpSpPr>
          <p:cNvPr id="17" name="Grupa 16">
            <a:extLst>
              <a:ext uri="{FF2B5EF4-FFF2-40B4-BE49-F238E27FC236}">
                <a16:creationId xmlns:a16="http://schemas.microsoft.com/office/drawing/2014/main" id="{2FE0AFC9-A5B1-49AA-39C1-51A01665A05D}"/>
              </a:ext>
            </a:extLst>
          </p:cNvPr>
          <p:cNvGrpSpPr/>
          <p:nvPr/>
        </p:nvGrpSpPr>
        <p:grpSpPr>
          <a:xfrm>
            <a:off x="8338892" y="221572"/>
            <a:ext cx="3454449" cy="3000899"/>
            <a:chOff x="8128024" y="3450318"/>
            <a:chExt cx="3454449" cy="3000899"/>
          </a:xfrm>
        </p:grpSpPr>
        <p:sp>
          <p:nvSpPr>
            <p:cNvPr id="4" name="Rounded Rectangle 3"/>
            <p:cNvSpPr/>
            <p:nvPr/>
          </p:nvSpPr>
          <p:spPr>
            <a:xfrm>
              <a:off x="8128024" y="3450318"/>
              <a:ext cx="3454449" cy="3000899"/>
            </a:xfrm>
            <a:prstGeom prst="roundRect">
              <a:avLst>
                <a:gd name="adj" fmla="val 7547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" name="Picture 6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32899" y="3714750"/>
              <a:ext cx="304800" cy="30480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8432899" y="4248150"/>
              <a:ext cx="2844701" cy="83099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pl-PL" sz="1800" b="1" i="0" u="none" dirty="0">
                  <a:solidFill>
                    <a:srgbClr val="0F172A"/>
                  </a:solidFill>
                  <a:latin typeface="Lexend"/>
                </a:rPr>
                <a:t>Trudnodostępne informacje o istnie</a:t>
              </a:r>
              <a:r>
                <a:rPr lang="pl-PL" b="1" dirty="0">
                  <a:solidFill>
                    <a:srgbClr val="0F172A"/>
                  </a:solidFill>
                  <a:latin typeface="Lexend"/>
                </a:rPr>
                <a:t>jącym zagrożeniu</a:t>
              </a:r>
              <a:endParaRPr sz="1800" b="1" i="0" u="none" dirty="0">
                <a:solidFill>
                  <a:srgbClr val="0F172A"/>
                </a:solidFill>
                <a:latin typeface="Lexend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32899" y="5226713"/>
              <a:ext cx="2940099" cy="83099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pl-PL" sz="1350" b="0" i="0" u="none" dirty="0">
                  <a:solidFill>
                    <a:srgbClr val="475569"/>
                  </a:solidFill>
                  <a:latin typeface="Lexend"/>
                </a:rPr>
                <a:t>Podczas istniejącego zagrożenia spowodowanego poziomem alarmowym wód, brak informacji na żywo.</a:t>
              </a:r>
              <a:endParaRPr sz="1350" b="0" i="0" u="none" dirty="0">
                <a:solidFill>
                  <a:srgbClr val="475569"/>
                </a:solidFill>
                <a:latin typeface="Lexend"/>
              </a:endParaRPr>
            </a:p>
          </p:txBody>
        </p:sp>
      </p:grpSp>
      <p:cxnSp>
        <p:nvCxnSpPr>
          <p:cNvPr id="21" name="Łącznik prosty 20">
            <a:extLst>
              <a:ext uri="{FF2B5EF4-FFF2-40B4-BE49-F238E27FC236}">
                <a16:creationId xmlns:a16="http://schemas.microsoft.com/office/drawing/2014/main" id="{5A8E6042-4F58-58C2-7625-9084303110B1}"/>
              </a:ext>
            </a:extLst>
          </p:cNvPr>
          <p:cNvCxnSpPr>
            <a:cxnSpLocks/>
          </p:cNvCxnSpPr>
          <p:nvPr/>
        </p:nvCxnSpPr>
        <p:spPr>
          <a:xfrm>
            <a:off x="7737231" y="0"/>
            <a:ext cx="0" cy="6858000"/>
          </a:xfrm>
          <a:prstGeom prst="line">
            <a:avLst/>
          </a:prstGeom>
          <a:ln w="66675">
            <a:solidFill>
              <a:srgbClr val="F872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wal 24">
            <a:extLst>
              <a:ext uri="{FF2B5EF4-FFF2-40B4-BE49-F238E27FC236}">
                <a16:creationId xmlns:a16="http://schemas.microsoft.com/office/drawing/2014/main" id="{E37447EC-53C1-FC3E-E6CD-55084F4F8A0D}"/>
              </a:ext>
            </a:extLst>
          </p:cNvPr>
          <p:cNvSpPr/>
          <p:nvPr/>
        </p:nvSpPr>
        <p:spPr>
          <a:xfrm>
            <a:off x="7627185" y="1267357"/>
            <a:ext cx="220091" cy="220091"/>
          </a:xfrm>
          <a:prstGeom prst="ellipse">
            <a:avLst/>
          </a:prstGeom>
          <a:solidFill>
            <a:srgbClr val="FF7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7" name="Owal 26">
            <a:extLst>
              <a:ext uri="{FF2B5EF4-FFF2-40B4-BE49-F238E27FC236}">
                <a16:creationId xmlns:a16="http://schemas.microsoft.com/office/drawing/2014/main" id="{F9260571-B265-C0BD-6643-B3DFAA5A7E5E}"/>
              </a:ext>
            </a:extLst>
          </p:cNvPr>
          <p:cNvSpPr/>
          <p:nvPr/>
        </p:nvSpPr>
        <p:spPr>
          <a:xfrm>
            <a:off x="7627184" y="3438913"/>
            <a:ext cx="220091" cy="220091"/>
          </a:xfrm>
          <a:prstGeom prst="ellipse">
            <a:avLst/>
          </a:prstGeom>
          <a:solidFill>
            <a:srgbClr val="F87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9" name="Owal 28">
            <a:extLst>
              <a:ext uri="{FF2B5EF4-FFF2-40B4-BE49-F238E27FC236}">
                <a16:creationId xmlns:a16="http://schemas.microsoft.com/office/drawing/2014/main" id="{F4E8E359-A4A5-E63F-8267-35CAA20313D1}"/>
              </a:ext>
            </a:extLst>
          </p:cNvPr>
          <p:cNvSpPr/>
          <p:nvPr/>
        </p:nvSpPr>
        <p:spPr>
          <a:xfrm>
            <a:off x="7627183" y="5340823"/>
            <a:ext cx="220091" cy="220091"/>
          </a:xfrm>
          <a:prstGeom prst="ellipse">
            <a:avLst/>
          </a:prstGeom>
          <a:solidFill>
            <a:srgbClr val="ED8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828008"/>
            <a:ext cx="190500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99483"/>
            <a:ext cx="190500" cy="180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882080"/>
            <a:ext cx="132568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l-PL" sz="1050" b="1" i="0" u="none" dirty="0">
                <a:solidFill>
                  <a:srgbClr val="0F172A"/>
                </a:solidFill>
                <a:latin typeface="Lexend"/>
              </a:rPr>
              <a:t>TROCHĘ HISTORII</a:t>
            </a:r>
            <a:endParaRPr sz="1050" b="1" i="0" u="none" dirty="0">
              <a:solidFill>
                <a:srgbClr val="0F172A"/>
              </a:solidFill>
              <a:latin typeface="Lexen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2205930"/>
            <a:ext cx="64008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Lexend"/>
              </a:rPr>
              <a:t>Gmina Gorzyce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013620"/>
            <a:ext cx="497205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l-PL" sz="1500" b="0" i="0" u="none" dirty="0">
                <a:solidFill>
                  <a:srgbClr val="475569"/>
                </a:solidFill>
                <a:latin typeface="Lexend"/>
              </a:rPr>
              <a:t>P</a:t>
            </a:r>
            <a:r>
              <a:rPr sz="1500" b="0" i="0" u="none" dirty="0">
                <a:solidFill>
                  <a:srgbClr val="475569"/>
                </a:solidFill>
                <a:latin typeface="Lexend"/>
              </a:rPr>
              <a:t>ow</a:t>
            </a:r>
            <a:r>
              <a:rPr lang="pl-PL" sz="1500" b="0" i="0" u="none" dirty="0">
                <a:solidFill>
                  <a:srgbClr val="475569"/>
                </a:solidFill>
                <a:latin typeface="Lexend"/>
              </a:rPr>
              <a:t>ó</a:t>
            </a:r>
            <a:r>
              <a:rPr sz="1500" b="0" i="0" u="none" dirty="0">
                <a:solidFill>
                  <a:srgbClr val="475569"/>
                </a:solidFill>
                <a:latin typeface="Lexend"/>
              </a:rPr>
              <a:t>d</a:t>
            </a:r>
            <a:r>
              <a:rPr lang="pl-PL" sz="1500" b="0" i="0" u="none" dirty="0">
                <a:solidFill>
                  <a:srgbClr val="475569"/>
                </a:solidFill>
                <a:latin typeface="Lexend"/>
              </a:rPr>
              <a:t>ź</a:t>
            </a:r>
            <a:r>
              <a:rPr sz="1500" b="0" i="0" u="none" dirty="0">
                <a:solidFill>
                  <a:srgbClr val="475569"/>
                </a:solidFill>
                <a:latin typeface="Lexend"/>
              </a:rPr>
              <a:t> w </a:t>
            </a:r>
            <a:r>
              <a:rPr sz="1500" b="0" i="0" u="none" dirty="0" err="1">
                <a:solidFill>
                  <a:srgbClr val="475569"/>
                </a:solidFill>
                <a:latin typeface="Lexend"/>
              </a:rPr>
              <a:t>widłach</a:t>
            </a:r>
            <a:r>
              <a:rPr sz="1500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Lexend"/>
              </a:rPr>
              <a:t>Wisły</a:t>
            </a:r>
            <a:r>
              <a:rPr sz="1500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Lexend"/>
              </a:rPr>
              <a:t>i</a:t>
            </a:r>
            <a:r>
              <a:rPr sz="1500" b="0" i="0" u="none" dirty="0">
                <a:solidFill>
                  <a:srgbClr val="475569"/>
                </a:solidFill>
                <a:latin typeface="Lexend"/>
              </a:rPr>
              <a:t> Sanu.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794670"/>
            <a:ext cx="57531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Lexend"/>
              </a:rPr>
              <a:t>Rok 1997: Tragiczne przerwania wałów ochronnych.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166145"/>
            <a:ext cx="57531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Lexend"/>
              </a:rPr>
              <a:t>Rok 2010: </a:t>
            </a:r>
            <a:r>
              <a:rPr sz="1350" b="1" i="0" u="none" dirty="0" err="1">
                <a:solidFill>
                  <a:srgbClr val="0F172A"/>
                </a:solidFill>
                <a:latin typeface="Lexend"/>
              </a:rPr>
              <a:t>Ponowne</a:t>
            </a:r>
            <a:r>
              <a:rPr sz="1350" b="1" i="0" u="none" dirty="0">
                <a:solidFill>
                  <a:srgbClr val="0F172A"/>
                </a:solidFill>
                <a:latin typeface="Lexend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Lexend"/>
              </a:rPr>
              <a:t>zalanie</a:t>
            </a:r>
            <a:r>
              <a:rPr sz="1350" b="1" i="0" u="none" dirty="0">
                <a:solidFill>
                  <a:srgbClr val="0F172A"/>
                </a:solidFill>
                <a:latin typeface="Lexend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Lexend"/>
              </a:rPr>
              <a:t>i</a:t>
            </a:r>
            <a:r>
              <a:rPr sz="1350" b="1" i="0" u="none" dirty="0">
                <a:solidFill>
                  <a:srgbClr val="0F172A"/>
                </a:solidFill>
                <a:latin typeface="Lexend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Lexend"/>
              </a:rPr>
              <a:t>utrata</a:t>
            </a:r>
            <a:r>
              <a:rPr sz="1350" b="1" i="0" u="none" dirty="0">
                <a:solidFill>
                  <a:srgbClr val="0F172A"/>
                </a:solidFill>
                <a:latin typeface="Lexend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Lexend"/>
              </a:rPr>
              <a:t>dorobku</a:t>
            </a:r>
            <a:r>
              <a:rPr sz="1350" b="1" i="0" u="none" dirty="0">
                <a:solidFill>
                  <a:srgbClr val="0F172A"/>
                </a:solidFill>
                <a:latin typeface="Lexend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Lexend"/>
              </a:rPr>
              <a:t>życia</a:t>
            </a:r>
            <a:r>
              <a:rPr sz="1350" b="1" i="0" u="none" dirty="0">
                <a:solidFill>
                  <a:srgbClr val="0F172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661" y="5413860"/>
            <a:ext cx="3797989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Lexend"/>
              </a:rPr>
              <a:t>Od lotu drona do decyzji służb i gminy.</a:t>
            </a:r>
          </a:p>
        </p:txBody>
      </p:sp>
      <p:pic>
        <p:nvPicPr>
          <p:cNvPr id="14" name="Obraz 13" descr="Powódź 2010 roku w gminie Gorzyce. Pierwsza fala - ZOBACZ ZDJĘCIA. Część 3">
            <a:extLst>
              <a:ext uri="{FF2B5EF4-FFF2-40B4-BE49-F238E27FC236}">
                <a16:creationId xmlns:a16="http://schemas.microsoft.com/office/drawing/2014/main" id="{6F364A05-EC5E-3096-62B6-A0B746BAE3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07" r="39257"/>
          <a:stretch>
            <a:fillRect/>
          </a:stretch>
        </p:blipFill>
        <p:spPr>
          <a:xfrm>
            <a:off x="6096000" y="0"/>
            <a:ext cx="6096000" cy="6858000"/>
          </a:xfrm>
          <a:custGeom>
            <a:avLst/>
            <a:gdLst>
              <a:gd name="csX0" fmla="*/ 0 w 6096000"/>
              <a:gd name="csY0" fmla="*/ 0 h 6858000"/>
              <a:gd name="csX1" fmla="*/ 6096000 w 6096000"/>
              <a:gd name="csY1" fmla="*/ 0 h 6858000"/>
              <a:gd name="csX2" fmla="*/ 6096000 w 6096000"/>
              <a:gd name="csY2" fmla="*/ 6858000 h 6858000"/>
              <a:gd name="csX3" fmla="*/ 0 w 6096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pole tekstowe 15">
            <a:extLst>
              <a:ext uri="{FF2B5EF4-FFF2-40B4-BE49-F238E27FC236}">
                <a16:creationId xmlns:a16="http://schemas.microsoft.com/office/drawing/2014/main" id="{9235D0EF-CB82-22AE-16D2-D56A06DA56B0}"/>
              </a:ext>
            </a:extLst>
          </p:cNvPr>
          <p:cNvSpPr txBox="1"/>
          <p:nvPr/>
        </p:nvSpPr>
        <p:spPr>
          <a:xfrm>
            <a:off x="609600" y="4806790"/>
            <a:ext cx="29173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b="1" i="0" u="none" dirty="0">
                <a:solidFill>
                  <a:srgbClr val="FA7416"/>
                </a:solidFill>
                <a:latin typeface="Lexend"/>
              </a:rPr>
              <a:t>CEL PROJEKTU?</a:t>
            </a:r>
            <a:endParaRPr lang="pl-PL" sz="3600" dirty="0">
              <a:solidFill>
                <a:srgbClr val="FA741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92" y="3029870"/>
            <a:ext cx="152400" cy="180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9992" y="1083942"/>
            <a:ext cx="5486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Lexend"/>
              </a:rPr>
              <a:t>FUNDAMENT SYSTEMU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992" y="1407792"/>
            <a:ext cx="54864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Lexend"/>
              </a:rPr>
              <a:t>Drony zwiadowcze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992" y="2215482"/>
            <a:ext cx="49720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 err="1">
                <a:solidFill>
                  <a:srgbClr val="475569"/>
                </a:solidFill>
                <a:latin typeface="Lexend"/>
              </a:rPr>
              <a:t>Szybka</a:t>
            </a:r>
            <a:r>
              <a:rPr sz="1500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Lexend"/>
              </a:rPr>
              <a:t>i</a:t>
            </a:r>
            <a:r>
              <a:rPr sz="1500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Lexend"/>
              </a:rPr>
              <a:t>precyzyjna</a:t>
            </a:r>
            <a:r>
              <a:rPr sz="1500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Lexend"/>
              </a:rPr>
              <a:t>informacja</a:t>
            </a:r>
            <a:r>
              <a:rPr sz="1500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Lexend"/>
              </a:rPr>
              <a:t>bezpośrednio</a:t>
            </a:r>
            <a:r>
              <a:rPr sz="1500" b="0" i="0" u="none" dirty="0">
                <a:solidFill>
                  <a:srgbClr val="475569"/>
                </a:solidFill>
                <a:latin typeface="Lexend"/>
              </a:rPr>
              <a:t> z </a:t>
            </a:r>
            <a:r>
              <a:rPr sz="1500" b="0" i="0" u="none" dirty="0" err="1">
                <a:solidFill>
                  <a:srgbClr val="475569"/>
                </a:solidFill>
                <a:latin typeface="Lexend"/>
              </a:rPr>
              <a:t>powietrza</a:t>
            </a:r>
            <a:r>
              <a:rPr sz="1500" b="0" i="0" u="none" dirty="0">
                <a:solidFill>
                  <a:srgbClr val="475569"/>
                </a:solidFill>
                <a:latin typeface="Lexend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4792" y="2996532"/>
            <a:ext cx="46672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Lexend"/>
              </a:rPr>
              <a:t>Błyskawiczn</a:t>
            </a:r>
            <a:r>
              <a:rPr lang="pl-PL" sz="1350" b="1" i="0" u="none" dirty="0">
                <a:solidFill>
                  <a:srgbClr val="0F172A"/>
                </a:solidFill>
                <a:latin typeface="Lexend"/>
              </a:rPr>
              <a:t>a</a:t>
            </a:r>
            <a:r>
              <a:rPr sz="1350" b="1" i="0" u="none" dirty="0">
                <a:solidFill>
                  <a:srgbClr val="0F172A"/>
                </a:solidFill>
                <a:latin typeface="Lexend"/>
              </a:rPr>
              <a:t> </a:t>
            </a:r>
            <a:r>
              <a:rPr lang="pl-PL" sz="1350" b="1" i="0" u="none" dirty="0">
                <a:solidFill>
                  <a:srgbClr val="0F172A"/>
                </a:solidFill>
                <a:latin typeface="Lexend"/>
              </a:rPr>
              <a:t>ocena sytuacji</a:t>
            </a:r>
            <a:r>
              <a:rPr sz="1350" b="1" i="0" u="none" dirty="0">
                <a:solidFill>
                  <a:srgbClr val="0F172A"/>
                </a:solidFill>
                <a:latin typeface="Lexend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Lexend"/>
              </a:rPr>
              <a:t>nad</a:t>
            </a:r>
            <a:r>
              <a:rPr sz="1350" b="1" i="0" u="none" dirty="0">
                <a:solidFill>
                  <a:srgbClr val="0F172A"/>
                </a:solidFill>
                <a:latin typeface="Lexend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Lexend"/>
              </a:rPr>
              <a:t>trudno</a:t>
            </a:r>
            <a:r>
              <a:rPr sz="1350" b="1" i="0" u="none" dirty="0">
                <a:solidFill>
                  <a:srgbClr val="0F172A"/>
                </a:solidFill>
                <a:latin typeface="Lexend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Lexend"/>
              </a:rPr>
              <a:t>dostępnym</a:t>
            </a:r>
            <a:r>
              <a:rPr sz="1350" b="1" i="0" u="none" dirty="0">
                <a:solidFill>
                  <a:srgbClr val="0F172A"/>
                </a:solidFill>
                <a:latin typeface="Lexend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Lexend"/>
              </a:rPr>
              <a:t>terenem</a:t>
            </a:r>
            <a:r>
              <a:rPr sz="1350" b="1" i="0" u="none" dirty="0">
                <a:solidFill>
                  <a:srgbClr val="0F172A"/>
                </a:solidFill>
                <a:latin typeface="Lexend"/>
              </a:rPr>
              <a:t>.</a:t>
            </a:r>
          </a:p>
        </p:txBody>
      </p:sp>
      <p:pic>
        <p:nvPicPr>
          <p:cNvPr id="14" name="Picture 4" descr="image.png">
            <a:extLst>
              <a:ext uri="{FF2B5EF4-FFF2-40B4-BE49-F238E27FC236}">
                <a16:creationId xmlns:a16="http://schemas.microsoft.com/office/drawing/2014/main" id="{B62D3792-A07D-0A57-C89C-1114B03E2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92" y="4210970"/>
            <a:ext cx="152400" cy="180975"/>
          </a:xfrm>
          <a:prstGeom prst="rect">
            <a:avLst/>
          </a:prstGeom>
        </p:spPr>
      </p:pic>
      <p:sp>
        <p:nvSpPr>
          <p:cNvPr id="16" name="TextBox 10">
            <a:extLst>
              <a:ext uri="{FF2B5EF4-FFF2-40B4-BE49-F238E27FC236}">
                <a16:creationId xmlns:a16="http://schemas.microsoft.com/office/drawing/2014/main" id="{4EE19063-04E6-438E-3DF4-2ECE4C19105B}"/>
              </a:ext>
            </a:extLst>
          </p:cNvPr>
          <p:cNvSpPr txBox="1"/>
          <p:nvPr/>
        </p:nvSpPr>
        <p:spPr>
          <a:xfrm>
            <a:off x="1094792" y="4177632"/>
            <a:ext cx="46672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l-PL" sz="1350" b="1" i="0" u="none" dirty="0">
                <a:solidFill>
                  <a:srgbClr val="0F172A"/>
                </a:solidFill>
                <a:latin typeface="Lexend"/>
              </a:rPr>
              <a:t>Niski koszt działania</a:t>
            </a:r>
            <a:endParaRPr sz="1350" b="1" i="0" u="none" dirty="0">
              <a:solidFill>
                <a:srgbClr val="0F172A"/>
              </a:solidFill>
              <a:latin typeface="Lexend"/>
            </a:endParaRPr>
          </a:p>
        </p:txBody>
      </p:sp>
      <p:pic>
        <p:nvPicPr>
          <p:cNvPr id="18" name="Picture 3" descr="image.png">
            <a:extLst>
              <a:ext uri="{FF2B5EF4-FFF2-40B4-BE49-F238E27FC236}">
                <a16:creationId xmlns:a16="http://schemas.microsoft.com/office/drawing/2014/main" id="{7E72FB84-F87E-A725-1D3C-C26465B85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92" y="4768823"/>
            <a:ext cx="152400" cy="180975"/>
          </a:xfrm>
          <a:prstGeom prst="rect">
            <a:avLst/>
          </a:prstGeom>
        </p:spPr>
      </p:pic>
      <p:sp>
        <p:nvSpPr>
          <p:cNvPr id="20" name="TextBox 9">
            <a:extLst>
              <a:ext uri="{FF2B5EF4-FFF2-40B4-BE49-F238E27FC236}">
                <a16:creationId xmlns:a16="http://schemas.microsoft.com/office/drawing/2014/main" id="{F709B085-AA8B-D377-A7F6-8D914973E58D}"/>
              </a:ext>
            </a:extLst>
          </p:cNvPr>
          <p:cNvSpPr txBox="1"/>
          <p:nvPr/>
        </p:nvSpPr>
        <p:spPr>
          <a:xfrm>
            <a:off x="1094792" y="4735485"/>
            <a:ext cx="46672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l-PL" sz="1350" b="1" dirty="0">
                <a:solidFill>
                  <a:srgbClr val="0F172A"/>
                </a:solidFill>
                <a:latin typeface="Lexend"/>
              </a:rPr>
              <a:t>T</a:t>
            </a:r>
            <a:r>
              <a:rPr sz="1350" b="1" i="0" u="none" dirty="0" err="1">
                <a:solidFill>
                  <a:srgbClr val="0F172A"/>
                </a:solidFill>
                <a:latin typeface="Lexend"/>
              </a:rPr>
              <a:t>ransmisja</a:t>
            </a:r>
            <a:r>
              <a:rPr sz="1350" b="1" i="0" u="none" dirty="0">
                <a:solidFill>
                  <a:srgbClr val="0F172A"/>
                </a:solidFill>
                <a:latin typeface="Lexend"/>
              </a:rPr>
              <a:t> </a:t>
            </a:r>
            <a:r>
              <a:rPr lang="pl-PL" sz="1350" b="1" i="0" u="none" dirty="0">
                <a:solidFill>
                  <a:srgbClr val="0F172A"/>
                </a:solidFill>
                <a:latin typeface="Lexend"/>
              </a:rPr>
              <a:t>sytuacji w okolicach </a:t>
            </a:r>
            <a:r>
              <a:rPr sz="1350" b="1" i="0" u="none" dirty="0" err="1">
                <a:solidFill>
                  <a:srgbClr val="0F172A"/>
                </a:solidFill>
                <a:latin typeface="Lexend"/>
              </a:rPr>
              <a:t>wałów</a:t>
            </a:r>
            <a:r>
              <a:rPr sz="1350" b="1" i="0" u="none" dirty="0">
                <a:solidFill>
                  <a:srgbClr val="0F172A"/>
                </a:solidFill>
                <a:latin typeface="Lexend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Lexend"/>
              </a:rPr>
              <a:t>i</a:t>
            </a:r>
            <a:r>
              <a:rPr sz="1350" b="1" i="0" u="none" dirty="0">
                <a:solidFill>
                  <a:srgbClr val="0F172A"/>
                </a:solidFill>
                <a:latin typeface="Lexend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Lexend"/>
              </a:rPr>
              <a:t>rozlewisk</a:t>
            </a:r>
            <a:r>
              <a:rPr sz="1350" b="1" i="0" u="none" dirty="0">
                <a:solidFill>
                  <a:srgbClr val="0F172A"/>
                </a:solidFill>
                <a:latin typeface="Lexend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Lexend"/>
              </a:rPr>
              <a:t>na</a:t>
            </a:r>
            <a:r>
              <a:rPr sz="1350" b="1" i="0" u="none" dirty="0">
                <a:solidFill>
                  <a:srgbClr val="0F172A"/>
                </a:solidFill>
                <a:latin typeface="Lexend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Lexend"/>
              </a:rPr>
              <a:t>żywo</a:t>
            </a:r>
            <a:r>
              <a:rPr sz="1350" b="1" i="0" u="none" dirty="0">
                <a:solidFill>
                  <a:srgbClr val="0F172A"/>
                </a:solidFill>
                <a:latin typeface="Lexend"/>
              </a:rPr>
              <a:t>.</a:t>
            </a:r>
          </a:p>
        </p:txBody>
      </p:sp>
      <p:pic>
        <p:nvPicPr>
          <p:cNvPr id="22" name="Picture 4" descr="image.png">
            <a:extLst>
              <a:ext uri="{FF2B5EF4-FFF2-40B4-BE49-F238E27FC236}">
                <a16:creationId xmlns:a16="http://schemas.microsoft.com/office/drawing/2014/main" id="{EC00C237-877C-7718-603B-1706056E0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92" y="3661858"/>
            <a:ext cx="152400" cy="180975"/>
          </a:xfrm>
          <a:prstGeom prst="rect">
            <a:avLst/>
          </a:prstGeom>
        </p:spPr>
      </p:pic>
      <p:sp>
        <p:nvSpPr>
          <p:cNvPr id="24" name="TextBox 10">
            <a:extLst>
              <a:ext uri="{FF2B5EF4-FFF2-40B4-BE49-F238E27FC236}">
                <a16:creationId xmlns:a16="http://schemas.microsoft.com/office/drawing/2014/main" id="{830436B3-1504-2200-F4BE-3C9113B675E3}"/>
              </a:ext>
            </a:extLst>
          </p:cNvPr>
          <p:cNvSpPr txBox="1"/>
          <p:nvPr/>
        </p:nvSpPr>
        <p:spPr>
          <a:xfrm>
            <a:off x="1094792" y="3628520"/>
            <a:ext cx="46672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l-PL" sz="1350" b="1" i="0" u="none" dirty="0">
                <a:solidFill>
                  <a:srgbClr val="0F172A"/>
                </a:solidFill>
                <a:latin typeface="Lexend"/>
              </a:rPr>
              <a:t>Brak niebezpieczeństwa dla pracujących służb</a:t>
            </a:r>
            <a:endParaRPr sz="1350" b="1" i="0" u="none" dirty="0">
              <a:solidFill>
                <a:srgbClr val="0F172A"/>
              </a:solidFill>
              <a:latin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81600" y="2431107"/>
            <a:ext cx="64008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81600" y="5143500"/>
            <a:ext cx="64008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81600" y="2431107"/>
            <a:ext cx="38100" cy="9906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181600" y="5143500"/>
            <a:ext cx="38100" cy="9906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Lexend"/>
              </a:rPr>
              <a:t>TRYB CODZIENNY · GMINA I POWIAT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33450"/>
            <a:ext cx="3438442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0F172A"/>
                </a:solidFill>
                <a:latin typeface="Lexend"/>
              </a:rPr>
              <a:t>Analiza </a:t>
            </a:r>
            <a:r>
              <a:rPr lang="pl-PL" sz="3600" b="1" i="0" u="none" dirty="0">
                <a:solidFill>
                  <a:srgbClr val="0F172A"/>
                </a:solidFill>
                <a:latin typeface="Lexend"/>
              </a:rPr>
              <a:t>terenu</a:t>
            </a:r>
            <a:endParaRPr sz="3600" b="1" i="0" u="none" dirty="0">
              <a:solidFill>
                <a:srgbClr val="0F172A"/>
              </a:solidFill>
              <a:latin typeface="Lexen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1657350"/>
            <a:ext cx="771525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l-PL" sz="1500" dirty="0">
                <a:solidFill>
                  <a:srgbClr val="475569"/>
                </a:solidFill>
                <a:latin typeface="Lexend"/>
              </a:rPr>
              <a:t>Te same drony pracują planowo, zanim pojawi się zagrożenie.</a:t>
            </a:r>
            <a:endParaRPr sz="1500" b="0" i="0" u="none" dirty="0">
              <a:solidFill>
                <a:srgbClr val="475569"/>
              </a:solidFill>
              <a:latin typeface="Lexen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48300" y="2659707"/>
            <a:ext cx="323486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l-PL" sz="1500" b="1" i="0" u="none" dirty="0">
                <a:solidFill>
                  <a:srgbClr val="0F172A"/>
                </a:solidFill>
                <a:latin typeface="Lexend"/>
              </a:rPr>
              <a:t>Analiza struktur wałów i mostów</a:t>
            </a:r>
            <a:endParaRPr sz="1500" b="1" i="0" u="none" dirty="0">
              <a:solidFill>
                <a:srgbClr val="0F172A"/>
              </a:solidFill>
              <a:latin typeface="Lexen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48300" y="2974032"/>
            <a:ext cx="596637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l-PL" sz="1350" b="0" i="0" u="none" dirty="0">
                <a:solidFill>
                  <a:srgbClr val="475569"/>
                </a:solidFill>
                <a:latin typeface="Lexend"/>
              </a:rPr>
              <a:t>Sprawdzanie stanów infrastruktury krytycznej podczas wezbrań wody</a:t>
            </a:r>
          </a:p>
        </p:txBody>
      </p:sp>
      <p:grpSp>
        <p:nvGrpSpPr>
          <p:cNvPr id="18" name="Grupa 17">
            <a:extLst>
              <a:ext uri="{FF2B5EF4-FFF2-40B4-BE49-F238E27FC236}">
                <a16:creationId xmlns:a16="http://schemas.microsoft.com/office/drawing/2014/main" id="{624B09AA-6D02-1402-3B46-4ECDAC30E419}"/>
              </a:ext>
            </a:extLst>
          </p:cNvPr>
          <p:cNvGrpSpPr/>
          <p:nvPr/>
        </p:nvGrpSpPr>
        <p:grpSpPr>
          <a:xfrm>
            <a:off x="323490" y="3656484"/>
            <a:ext cx="6400800" cy="1215553"/>
            <a:chOff x="5181600" y="3924300"/>
            <a:chExt cx="6400800" cy="990600"/>
          </a:xfrm>
        </p:grpSpPr>
        <p:sp>
          <p:nvSpPr>
            <p:cNvPr id="3" name="Rounded Rectangle 2"/>
            <p:cNvSpPr/>
            <p:nvPr/>
          </p:nvSpPr>
          <p:spPr>
            <a:xfrm>
              <a:off x="5181600" y="3924300"/>
              <a:ext cx="6400800" cy="990600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544300" y="3924300"/>
              <a:ext cx="38100" cy="9906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448300" y="4152900"/>
              <a:ext cx="2293898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pl-PL" sz="1500" b="1" i="0" u="none" dirty="0">
                  <a:solidFill>
                    <a:srgbClr val="0F172A"/>
                  </a:solidFill>
                  <a:latin typeface="Lexend"/>
                </a:rPr>
                <a:t>Planowanie wzmocnień</a:t>
              </a:r>
              <a:endParaRPr sz="1500" b="1" i="0" u="none" dirty="0">
                <a:solidFill>
                  <a:srgbClr val="0F172A"/>
                </a:solidFill>
                <a:latin typeface="Lexend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48300" y="4430450"/>
              <a:ext cx="5892253" cy="33860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pl-PL" sz="1350" b="0" i="0" u="none" dirty="0">
                  <a:solidFill>
                    <a:srgbClr val="475569"/>
                  </a:solidFill>
                  <a:latin typeface="Lexend"/>
                </a:rPr>
                <a:t>Analiza terenu pod budowę większych wałów przeciwpowodziowych oraz zbiorników retencyjnych</a:t>
              </a:r>
              <a:endParaRPr sz="1350" b="0" i="0" u="none" dirty="0">
                <a:solidFill>
                  <a:srgbClr val="475569"/>
                </a:solidFill>
                <a:latin typeface="Lexend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5448300" y="5372100"/>
            <a:ext cx="58521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l-PL" sz="1500" b="1" i="0" u="none" dirty="0">
                <a:solidFill>
                  <a:srgbClr val="0F172A"/>
                </a:solidFill>
                <a:latin typeface="Lexend"/>
              </a:rPr>
              <a:t>Sieć dronów gminnych w gotowości</a:t>
            </a:r>
            <a:endParaRPr sz="1500" b="1" i="0" u="none" dirty="0">
              <a:solidFill>
                <a:srgbClr val="0F172A"/>
              </a:solidFill>
              <a:latin typeface="Lexen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48300" y="5686425"/>
            <a:ext cx="585216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l-PL" sz="1350" b="0" i="0" u="none" dirty="0">
                <a:solidFill>
                  <a:srgbClr val="475569"/>
                </a:solidFill>
                <a:latin typeface="Lexend"/>
              </a:rPr>
              <a:t>Codziennie inspekcje, w kryzysie od razu pod dowództwem PSP</a:t>
            </a:r>
            <a:endParaRPr sz="1350" b="0" i="0" u="none" dirty="0">
              <a:solidFill>
                <a:srgbClr val="475569"/>
              </a:solidFill>
              <a:latin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8404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97316"/>
                </a:solidFill>
                <a:latin typeface="Lexend"/>
              </a:rPr>
              <a:t>PROTOTYP · TRYB KRYZYSOWY · WOJEWÓDZKA PSP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72A"/>
                </a:solidFill>
                <a:latin typeface="Lexend"/>
              </a:rPr>
              <a:t>Dron dashboard w akcji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12280" y="384048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Lexend"/>
              </a:rPr>
              <a:t>Moduł „Ewakuacja”: </a:t>
            </a:r>
            <a:r>
              <a:rPr sz="1100" b="0">
                <a:solidFill>
                  <a:srgbClr val="475569"/>
                </a:solidFill>
                <a:latin typeface="Lexend"/>
              </a:rPr>
              <a:t>powódź 70%, rejon Rzeszów–Wisłok. 74 z 400 odcinków dróg nieprzejezdnych, PSP dostaje gotową listę działań.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Lexend"/>
              </a:rPr>
              <a:t>Realne: </a:t>
            </a:r>
            <a:r>
              <a:rPr sz="1100" b="0">
                <a:solidFill>
                  <a:srgbClr val="475569"/>
                </a:solidFill>
                <a:latin typeface="Lexend"/>
              </a:rPr>
              <a:t>stany IMGW-PIB, drogi OSM. </a:t>
            </a:r>
            <a:r>
              <a:rPr sz="1100" b="1">
                <a:solidFill>
                  <a:srgbClr val="0F172A"/>
                </a:solidFill>
                <a:latin typeface="Lexend"/>
              </a:rPr>
              <a:t>DEMO: </a:t>
            </a:r>
            <a:r>
              <a:rPr sz="1100" b="0">
                <a:solidFill>
                  <a:srgbClr val="475569"/>
                </a:solidFill>
                <a:latin typeface="Lexend"/>
              </a:rPr>
              <a:t>zasięg zalania (docelowo z nalotu drona).</a:t>
            </a:r>
          </a:p>
        </p:txBody>
      </p:sp>
      <p:pic>
        <p:nvPicPr>
          <p:cNvPr id="5" name="Picture 4" descr="1790718508233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481328"/>
            <a:ext cx="10972800" cy="4935741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44365" y="2968508"/>
            <a:ext cx="4876800" cy="129869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965" y="3225683"/>
            <a:ext cx="19050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581" y="1085037"/>
            <a:ext cx="5486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l-PL" sz="1050" b="1" i="0" u="none" dirty="0">
                <a:solidFill>
                  <a:srgbClr val="0F172A"/>
                </a:solidFill>
                <a:latin typeface="Lexend"/>
              </a:rPr>
              <a:t>PREWENCJA · NAKŁADANIE INFORMACJI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581" y="1379767"/>
            <a:ext cx="4937760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pl-PL" sz="3600" b="1" i="0" u="none" dirty="0">
                <a:solidFill>
                  <a:srgbClr val="0F172A"/>
                </a:solidFill>
                <a:latin typeface="Lexend"/>
              </a:rPr>
              <a:t>Warstwy danych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581" y="2187458"/>
            <a:ext cx="603504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475569"/>
                </a:solidFill>
                <a:latin typeface="Lexend"/>
              </a:rPr>
              <a:t>Obraz z drona nakładamy </a:t>
            </a:r>
            <a:r>
              <a:rPr sz="1500" b="0" i="0" u="none" dirty="0" err="1">
                <a:solidFill>
                  <a:srgbClr val="475569"/>
                </a:solidFill>
                <a:latin typeface="Lexend"/>
              </a:rPr>
              <a:t>na</a:t>
            </a:r>
            <a:r>
              <a:rPr sz="1500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lang="pl-PL" sz="1500" b="0" i="0" u="none" dirty="0">
                <a:solidFill>
                  <a:srgbClr val="475569"/>
                </a:solidFill>
                <a:latin typeface="Lexend"/>
              </a:rPr>
              <a:t>probabilistyczne </a:t>
            </a:r>
            <a:r>
              <a:rPr sz="1500" b="0" i="0" u="none" dirty="0" err="1">
                <a:solidFill>
                  <a:srgbClr val="475569"/>
                </a:solidFill>
                <a:latin typeface="Lexend"/>
              </a:rPr>
              <a:t>mapy</a:t>
            </a:r>
            <a:r>
              <a:rPr sz="1500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Lexend"/>
              </a:rPr>
              <a:t>powodzi</a:t>
            </a:r>
            <a:r>
              <a:rPr sz="1500" b="0" i="0" u="none" dirty="0">
                <a:solidFill>
                  <a:srgbClr val="475569"/>
                </a:solidFill>
                <a:latin typeface="Lexend"/>
              </a:rPr>
              <a:t>. oraz bieżące stany IMGW.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965" y="3511433"/>
            <a:ext cx="4325169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l-PL" sz="1350" b="0" i="0" u="none" dirty="0">
                <a:solidFill>
                  <a:srgbClr val="475569"/>
                </a:solidFill>
                <a:latin typeface="Lexend"/>
              </a:rPr>
              <a:t>Porównywanie historycznych danych z informacjami zebranymi przez </a:t>
            </a:r>
            <a:r>
              <a:rPr lang="pl-PL" sz="1350" b="0" i="0" u="none" dirty="0" err="1">
                <a:solidFill>
                  <a:srgbClr val="475569"/>
                </a:solidFill>
                <a:latin typeface="Lexend"/>
              </a:rPr>
              <a:t>drona</a:t>
            </a:r>
            <a:endParaRPr sz="1350" b="0" i="0" u="none" dirty="0">
              <a:solidFill>
                <a:srgbClr val="475569"/>
              </a:solidFill>
              <a:latin typeface="Lexend"/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7B8C5285-91D9-E7D2-EB6F-6490583B7F91}"/>
              </a:ext>
            </a:extLst>
          </p:cNvPr>
          <p:cNvSpPr txBox="1"/>
          <p:nvPr/>
        </p:nvSpPr>
        <p:spPr>
          <a:xfrm>
            <a:off x="1763465" y="3150168"/>
            <a:ext cx="21864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1500" b="1" i="0" u="none" dirty="0">
                <a:solidFill>
                  <a:srgbClr val="0F172A"/>
                </a:solidFill>
                <a:latin typeface="Lexend"/>
              </a:rPr>
              <a:t>Lata 1997 i 2010</a:t>
            </a:r>
          </a:p>
        </p:txBody>
      </p:sp>
      <p:sp>
        <p:nvSpPr>
          <p:cNvPr id="27" name="Rounded Rectangle 2">
            <a:extLst>
              <a:ext uri="{FF2B5EF4-FFF2-40B4-BE49-F238E27FC236}">
                <a16:creationId xmlns:a16="http://schemas.microsoft.com/office/drawing/2014/main" id="{2B1BF69F-8364-E064-8DB3-4103D9B9AC05}"/>
              </a:ext>
            </a:extLst>
          </p:cNvPr>
          <p:cNvSpPr/>
          <p:nvPr/>
        </p:nvSpPr>
        <p:spPr>
          <a:xfrm>
            <a:off x="1344365" y="4733396"/>
            <a:ext cx="4876800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5" descr="image.png">
            <a:extLst>
              <a:ext uri="{FF2B5EF4-FFF2-40B4-BE49-F238E27FC236}">
                <a16:creationId xmlns:a16="http://schemas.microsoft.com/office/drawing/2014/main" id="{266DE9D7-60A3-0D53-443B-9BD16202C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026" y="5044198"/>
            <a:ext cx="190500" cy="190500"/>
          </a:xfrm>
          <a:prstGeom prst="rect">
            <a:avLst/>
          </a:prstGeom>
        </p:spPr>
      </p:pic>
      <p:sp>
        <p:nvSpPr>
          <p:cNvPr id="31" name="TextBox 12">
            <a:extLst>
              <a:ext uri="{FF2B5EF4-FFF2-40B4-BE49-F238E27FC236}">
                <a16:creationId xmlns:a16="http://schemas.microsoft.com/office/drawing/2014/main" id="{0966CEC1-2651-81DA-4897-23A9AF306F7C}"/>
              </a:ext>
            </a:extLst>
          </p:cNvPr>
          <p:cNvSpPr txBox="1"/>
          <p:nvPr/>
        </p:nvSpPr>
        <p:spPr>
          <a:xfrm>
            <a:off x="1584026" y="5329948"/>
            <a:ext cx="45148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exend"/>
              </a:rPr>
              <a:t>System ostrzega przed zakupem ryzykownych działek budowlanych.</a:t>
            </a:r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41D14EA3-6FDE-4572-3DE1-47EED36F5477}"/>
              </a:ext>
            </a:extLst>
          </p:cNvPr>
          <p:cNvSpPr txBox="1"/>
          <p:nvPr/>
        </p:nvSpPr>
        <p:spPr>
          <a:xfrm>
            <a:off x="1774526" y="4948948"/>
            <a:ext cx="21864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1500" b="1" i="0" u="none" dirty="0">
                <a:solidFill>
                  <a:srgbClr val="0F172A"/>
                </a:solidFill>
                <a:latin typeface="Lexend"/>
              </a:rPr>
              <a:t>Bezpieczne działki</a:t>
            </a:r>
          </a:p>
        </p:txBody>
      </p:sp>
      <p:cxnSp>
        <p:nvCxnSpPr>
          <p:cNvPr id="35" name="Łącznik prosty 34">
            <a:extLst>
              <a:ext uri="{FF2B5EF4-FFF2-40B4-BE49-F238E27FC236}">
                <a16:creationId xmlns:a16="http://schemas.microsoft.com/office/drawing/2014/main" id="{248F0192-CC6E-E790-E129-0B26387148A6}"/>
              </a:ext>
            </a:extLst>
          </p:cNvPr>
          <p:cNvCxnSpPr>
            <a:cxnSpLocks/>
          </p:cNvCxnSpPr>
          <p:nvPr/>
        </p:nvCxnSpPr>
        <p:spPr>
          <a:xfrm>
            <a:off x="786580" y="2813538"/>
            <a:ext cx="1" cy="3395238"/>
          </a:xfrm>
          <a:prstGeom prst="line">
            <a:avLst/>
          </a:prstGeom>
          <a:ln w="508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wal 36">
            <a:extLst>
              <a:ext uri="{FF2B5EF4-FFF2-40B4-BE49-F238E27FC236}">
                <a16:creationId xmlns:a16="http://schemas.microsoft.com/office/drawing/2014/main" id="{539F6291-ACAD-2BA7-EDEA-28442EEDE503}"/>
              </a:ext>
            </a:extLst>
          </p:cNvPr>
          <p:cNvSpPr/>
          <p:nvPr/>
        </p:nvSpPr>
        <p:spPr>
          <a:xfrm>
            <a:off x="676535" y="3511433"/>
            <a:ext cx="220091" cy="220091"/>
          </a:xfrm>
          <a:prstGeom prst="ellipse">
            <a:avLst/>
          </a:prstGeom>
          <a:solidFill>
            <a:srgbClr val="F87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9" name="Owal 38">
            <a:extLst>
              <a:ext uri="{FF2B5EF4-FFF2-40B4-BE49-F238E27FC236}">
                <a16:creationId xmlns:a16="http://schemas.microsoft.com/office/drawing/2014/main" id="{C8028430-4C91-04C1-D5DB-86A851F4D3F0}"/>
              </a:ext>
            </a:extLst>
          </p:cNvPr>
          <p:cNvSpPr/>
          <p:nvPr/>
        </p:nvSpPr>
        <p:spPr>
          <a:xfrm>
            <a:off x="676535" y="5279347"/>
            <a:ext cx="220091" cy="220091"/>
          </a:xfrm>
          <a:prstGeom prst="ellipse">
            <a:avLst/>
          </a:prstGeom>
          <a:solidFill>
            <a:srgbClr val="F87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" name="Rounded Rectangle 1"/>
          <p:cNvSpPr/>
          <p:nvPr/>
        </p:nvSpPr>
        <p:spPr>
          <a:xfrm>
            <a:off x="6766560" y="2971800"/>
            <a:ext cx="4818888" cy="297180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TextBox 39"/>
          <p:cNvSpPr txBox="1"/>
          <p:nvPr/>
        </p:nvSpPr>
        <p:spPr>
          <a:xfrm>
            <a:off x="7086600" y="320040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97316"/>
                </a:solidFill>
                <a:latin typeface="Lexend"/>
              </a:rPr>
              <a:t>INFORMOWANIE MIESZKAŃCÓW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35204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Lexend"/>
              </a:rPr>
              <a:t>Prosty dostęp do informacji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4178807"/>
            <a:ext cx="237744" cy="29434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498079" y="4160520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Lexend"/>
              </a:rPr>
              <a:t>Alerty o stanach rzek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446227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Lexend"/>
              </a:rPr>
              <a:t>Powiadomienie, gdy stan rośnie w ich rejonie.</a:t>
            </a:r>
          </a:p>
        </p:txBody>
      </p:sp>
      <p:pic>
        <p:nvPicPr>
          <p:cNvPr id="45" name="Picture 44" descr="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5047488"/>
            <a:ext cx="274320" cy="2743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498079" y="5029200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Lexend"/>
              </a:rPr>
              <a:t>Mapa stref zalewowych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5330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Lexend"/>
              </a:rPr>
              <a:t>Aktualna warstwa z drona na tle historii zalań.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50292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97316"/>
                </a:solidFill>
                <a:latin typeface="Lexend"/>
              </a:rPr>
              <a:t>PRZEPŁYW INFORMACJI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Lexend"/>
              </a:rPr>
              <a:t>Od danych do decyzji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691640" cy="2103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2029968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97316"/>
                </a:solidFill>
                <a:latin typeface="Lexen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56032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Lexend"/>
              </a:rPr>
              <a:t>Potrzeba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301752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BD5E1"/>
                </a:solidFill>
                <a:latin typeface="Lexend"/>
              </a:rPr>
              <a:t>Alarm IMGW lub zgłoszenie gminy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41448" y="1828800"/>
            <a:ext cx="1691640" cy="2103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24328" y="2029968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97316"/>
                </a:solidFill>
                <a:latin typeface="Lexen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256032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Lexend"/>
              </a:rPr>
              <a:t>Lot drona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301752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BD5E1"/>
                </a:solidFill>
                <a:latin typeface="Lexend"/>
              </a:rPr>
              <a:t>Plan zgodny z UAS, wiatr, VLOS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828800"/>
            <a:ext cx="1691640" cy="2103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53128" y="2029968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97316"/>
                </a:solidFill>
                <a:latin typeface="Lexen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56032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Lexend"/>
              </a:rPr>
              <a:t>Dane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301752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BD5E1"/>
                </a:solidFill>
                <a:latin typeface="Lexend"/>
              </a:rPr>
              <a:t>Ortofoto, wideo, termowizja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8" y="1828800"/>
            <a:ext cx="1691640" cy="2103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81928" y="2029968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97316"/>
                </a:solidFill>
                <a:latin typeface="Lexen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56032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Lexend"/>
              </a:rPr>
              <a:t>Analiza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301752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BD5E1"/>
                </a:solidFill>
                <a:latin typeface="Lexend"/>
              </a:rPr>
              <a:t>Zasięg zalania + stany IMGW + drogi OSM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7848" y="1828800"/>
            <a:ext cx="1691640" cy="2103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10727" y="2029968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97316"/>
                </a:solidFill>
                <a:latin typeface="Lexen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7" y="256032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Lexend"/>
              </a:rPr>
              <a:t>Panel sytuacyjny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7" y="301752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BD5E1"/>
                </a:solidFill>
                <a:latin typeface="Lexend"/>
              </a:rPr>
              <a:t>Mapa i lista PILNE / UWAGA / 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56648" y="1828800"/>
            <a:ext cx="1691640" cy="210312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39528" y="2029968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F172A"/>
                </a:solidFill>
                <a:latin typeface="Lexend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9528" y="256032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Lexend"/>
              </a:rPr>
              <a:t>Decyzja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9528" y="301752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Lexend"/>
              </a:rPr>
              <a:t>Ewakuacja, pomoc, raport w 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2519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Lexend"/>
              </a:rPr>
              <a:t>Kto i jak korzysta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572000"/>
            <a:ext cx="5303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97316"/>
                </a:solidFill>
                <a:latin typeface="Lexend"/>
              </a:rPr>
              <a:t>Wojewódzka PSP: </a:t>
            </a:r>
            <a:r>
              <a:rPr sz="1150" b="0">
                <a:solidFill>
                  <a:srgbClr val="CBD5E1"/>
                </a:solidFill>
                <a:latin typeface="Lexend"/>
              </a:rPr>
              <a:t>koordynuje siły i drony gmin, widzi drogi przejezdne, rejony odcięte i kolejkę zgłoszeń.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F97316"/>
                </a:solidFill>
                <a:latin typeface="Lexend"/>
              </a:rPr>
              <a:t>Gmina / powiat: </a:t>
            </a:r>
            <a:r>
              <a:rPr sz="1150" b="0">
                <a:solidFill>
                  <a:srgbClr val="CBD5E1"/>
                </a:solidFill>
                <a:latin typeface="Lexend"/>
              </a:rPr>
              <a:t>inspekcje wałów i mostów, ocena szkód, gotowość floty.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4572000"/>
            <a:ext cx="53035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97316"/>
                </a:solidFill>
                <a:latin typeface="Lexend"/>
              </a:rPr>
              <a:t>Ograniczenia: </a:t>
            </a:r>
            <a:r>
              <a:rPr sz="1150" b="0">
                <a:solidFill>
                  <a:srgbClr val="CBD5E1"/>
                </a:solidFill>
                <a:latin typeface="Lexend"/>
              </a:rPr>
              <a:t>przepisy UAS (120 m, VLOS, strefy PANSA), pogoda i wiatr, RODO – brak identyfikacji osób, zgody właścicieli terenu. System wspiera decyzję, nie zastępuje dowódcy akcji.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50292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97316"/>
                </a:solidFill>
                <a:latin typeface="Lexend"/>
              </a:rPr>
              <a:t>ASPEKT DUAL-USE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Lexend"/>
              </a:rPr>
              <a:t>Jeden system, dwa tryby pracy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3538728" cy="2331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2011680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Lexend"/>
              </a:rPr>
              <a:t>Tryb codzienny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377440"/>
            <a:ext cx="29900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F97316"/>
                </a:solidFill>
                <a:latin typeface="Lexend"/>
              </a:rPr>
              <a:t>CYWILNY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743200"/>
            <a:ext cx="299008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Lexend"/>
              </a:rPr>
              <a:t>Gmina, powiat, RZGW, zarządcy dróg, wodociągi, ubezpieczyciele. Inspekcje wałów, zapór i mostów, szacowanie szkód, plan lotów zgodny z prawem.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783080"/>
            <a:ext cx="3538728" cy="2331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08576" y="2011680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Lexend"/>
              </a:rPr>
              <a:t>Tryb kryzysowy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377440"/>
            <a:ext cx="29900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F97316"/>
                </a:solidFill>
                <a:latin typeface="Lexend"/>
              </a:rPr>
              <a:t>BEZPIECZEŃSTWO I RATOWNICTWO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743200"/>
            <a:ext cx="299008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Lexend"/>
              </a:rPr>
              <a:t>PSP, GOPR, WOPR, policja, PCZK, wojewoda. Ewakuacja, poszukiwania, ratownictwo wodne, priorytetyzacja pomocy.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783080"/>
            <a:ext cx="3538728" cy="2331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0184" y="2011680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Lexend"/>
              </a:rPr>
              <a:t>Jawne granice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4" y="2377440"/>
            <a:ext cx="29900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F97316"/>
                </a:solidFill>
                <a:latin typeface="Lexend"/>
              </a:rPr>
              <a:t>CHARAKTER DEFENSYWNY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2743200"/>
            <a:ext cx="299008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Lexend"/>
              </a:rPr>
              <a:t>Brak uzbrojenia, zakłócania łączności, śledzenia osób i obchodzenia zabezpieczeń. Wyłącznie cele ochronne i ratownicze.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999439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Lexend"/>
              </a:rPr>
              <a:t>Wspólna flota, dane i procedury: w kryzysie nikt nie buduje nowego systemu. Drony gminne pracują na co dzień dla administracji, a podczas powodzi przechodzą pod dowództwo PSP – to skraca czas reakcji.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5321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Lexend"/>
              </a:rPr>
              <a:t>Dziękujemy za uwagę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89320"/>
            <a:ext cx="10972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dirty="0" err="1">
                <a:solidFill>
                  <a:srgbClr val="CBD5E1"/>
                </a:solidFill>
                <a:latin typeface="Lexend"/>
              </a:rPr>
              <a:t>Uszaty</a:t>
            </a:r>
            <a:r>
              <a:rPr sz="1100" b="0" dirty="0">
                <a:solidFill>
                  <a:srgbClr val="CBD5E1"/>
                </a:solidFill>
                <a:latin typeface="Lexend"/>
              </a:rPr>
              <a:t> </a:t>
            </a:r>
            <a:r>
              <a:rPr sz="1100" b="0" dirty="0" err="1">
                <a:solidFill>
                  <a:srgbClr val="CBD5E1"/>
                </a:solidFill>
                <a:latin typeface="Lexend"/>
              </a:rPr>
              <a:t>i</a:t>
            </a:r>
            <a:r>
              <a:rPr sz="1100" b="0" dirty="0">
                <a:solidFill>
                  <a:srgbClr val="CBD5E1"/>
                </a:solidFill>
                <a:latin typeface="Lexend"/>
              </a:rPr>
              <a:t> Banda · Bartosz Mytych | Paweł Mroczek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632</Words>
  <Application>Microsoft Office PowerPoint</Application>
  <PresentationFormat>Panoramiczny</PresentationFormat>
  <Paragraphs>91</Paragraphs>
  <Slides>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3" baseType="lpstr">
      <vt:lpstr>Lexend</vt:lpstr>
      <vt:lpstr>Calibri</vt:lpstr>
      <vt:lpstr>Arial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Paweł Mroczek</cp:lastModifiedBy>
  <cp:revision>5</cp:revision>
  <dcterms:created xsi:type="dcterms:W3CDTF">2013-01-27T09:14:16Z</dcterms:created>
  <dcterms:modified xsi:type="dcterms:W3CDTF">2026-09-29T22:00:42Z</dcterms:modified>
  <cp:category/>
</cp:coreProperties>
</file>